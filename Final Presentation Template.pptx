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hd.gov.in/schemes/programmes/animal-husbandry-statistics" TargetMode="External"/><Relationship Id="rId5" Type="http://schemas.openxmlformats.org/officeDocument/2006/relationships/hyperlink" Target="https://www.nddb.coop/services/animalbreeding/geneticimprovement/breeds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AD"/>
            </a:gs>
            <a:gs pos="100000">
              <a:srgbClr val="FFA9F9"/>
            </a:gs>
          </a:gsLst>
          <a:lin ang="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109371" y="491586"/>
            <a:ext cx="4508895" cy="1074229"/>
          </a:xfrm>
          <a:custGeom>
            <a:avLst/>
            <a:gdLst/>
            <a:ahLst/>
            <a:cxnLst/>
            <a:rect l="l" t="t" r="r" b="b"/>
            <a:pathLst>
              <a:path w="4508895" h="1074229" extrusionOk="0">
                <a:moveTo>
                  <a:pt x="0" y="0"/>
                </a:moveTo>
                <a:lnTo>
                  <a:pt x="4508895" y="0"/>
                </a:lnTo>
                <a:lnTo>
                  <a:pt x="4508895" y="1074228"/>
                </a:lnTo>
                <a:lnTo>
                  <a:pt x="0" y="1074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321255" y="269322"/>
            <a:ext cx="3362961" cy="1518756"/>
          </a:xfrm>
          <a:custGeom>
            <a:avLst/>
            <a:gdLst/>
            <a:ahLst/>
            <a:cxnLst/>
            <a:rect l="l" t="t" r="r" b="b"/>
            <a:pathLst>
              <a:path w="3362961" h="1518756" extrusionOk="0">
                <a:moveTo>
                  <a:pt x="0" y="0"/>
                </a:moveTo>
                <a:lnTo>
                  <a:pt x="3362961" y="0"/>
                </a:lnTo>
                <a:lnTo>
                  <a:pt x="3362961" y="1518756"/>
                </a:lnTo>
                <a:lnTo>
                  <a:pt x="0" y="1518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741494" y="2703779"/>
            <a:ext cx="17546506" cy="608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rPr>
              <a:t>AI/ML Hackathon 2026</a:t>
            </a:r>
            <a:endParaRPr/>
          </a:p>
          <a:p>
            <a:pPr marL="0" marR="0" lvl="0" indent="0" algn="l" rtl="0">
              <a:lnSpc>
                <a:spcPct val="9099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9" b="1" i="0" u="none" strike="noStrike" cap="none">
              <a:solidFill>
                <a:srgbClr val="284B7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r>
              <a:rPr lang="en-US" sz="14400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lang="en-US" sz="14400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Present</a:t>
            </a:r>
            <a:r>
              <a:rPr lang="en-US" sz="14400" b="1" i="0" u="none" strike="noStrike" cap="none">
                <a:solidFill>
                  <a:srgbClr val="ED32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330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400" b="1" i="0" u="none" strike="noStrike" cap="none">
              <a:solidFill>
                <a:srgbClr val="ED323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>
                <a:solidFill>
                  <a:srgbClr val="FEA928"/>
                </a:solidFill>
                <a:latin typeface="Arial"/>
                <a:ea typeface="Arial"/>
                <a:cs typeface="Arial"/>
                <a:sym typeface="Arial"/>
              </a:rPr>
              <a:t>2-Day AI/ML Hackathon for Engineering Students</a:t>
            </a:r>
            <a:endParaRPr/>
          </a:p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9" b="1" i="0" u="none" strike="noStrike" cap="none">
              <a:solidFill>
                <a:srgbClr val="FEA9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92" name="Google Shape;92;p14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4"/>
          <p:cNvGrpSpPr/>
          <p:nvPr/>
        </p:nvGrpSpPr>
        <p:grpSpPr>
          <a:xfrm>
            <a:off x="1113756" y="3530943"/>
            <a:ext cx="4439121" cy="1721385"/>
            <a:chOff x="0" y="0"/>
            <a:chExt cx="1169151" cy="453369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1169151" cy="453369"/>
            </a:xfrm>
            <a:custGeom>
              <a:avLst/>
              <a:gdLst/>
              <a:ahLst/>
              <a:cxnLst/>
              <a:rect l="l" t="t" r="r" b="b"/>
              <a:pathLst>
                <a:path w="1169151" h="453369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 dirty="0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Name</a:t>
              </a:r>
              <a:endParaRPr dirty="0"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1113756" y="1980779"/>
            <a:ext cx="6547670" cy="135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113756" y="5454569"/>
            <a:ext cx="4439121" cy="1721385"/>
            <a:chOff x="0" y="0"/>
            <a:chExt cx="1169151" cy="453369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169151" cy="453369"/>
            </a:xfrm>
            <a:custGeom>
              <a:avLst/>
              <a:gdLst/>
              <a:ahLst/>
              <a:cxnLst/>
              <a:rect l="l" t="t" r="r" b="b"/>
              <a:pathLst>
                <a:path w="1169151" h="453369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Lead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113756" y="7375978"/>
            <a:ext cx="4439121" cy="2563443"/>
            <a:chOff x="0" y="0"/>
            <a:chExt cx="1169151" cy="675146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169151" cy="675146"/>
            </a:xfrm>
            <a:custGeom>
              <a:avLst/>
              <a:gdLst/>
              <a:ahLst/>
              <a:cxnLst/>
              <a:rect l="l" t="t" r="r" b="b"/>
              <a:pathLst>
                <a:path w="1169151" h="675146" extrusionOk="0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586200"/>
                  </a:lnTo>
                  <a:cubicBezTo>
                    <a:pt x="1169151" y="609790"/>
                    <a:pt x="1159780" y="632414"/>
                    <a:pt x="1143100" y="649094"/>
                  </a:cubicBezTo>
                  <a:cubicBezTo>
                    <a:pt x="1126419" y="665775"/>
                    <a:pt x="1103796" y="675146"/>
                    <a:pt x="1080206" y="675146"/>
                  </a:cubicBezTo>
                  <a:lnTo>
                    <a:pt x="88945" y="675146"/>
                  </a:lnTo>
                  <a:cubicBezTo>
                    <a:pt x="39822" y="675146"/>
                    <a:pt x="0" y="635323"/>
                    <a:pt x="0" y="586200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76200"/>
              <a:ext cx="1169151" cy="5989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Members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5737776" y="3530943"/>
            <a:ext cx="11088478" cy="1721385"/>
            <a:chOff x="0" y="0"/>
            <a:chExt cx="2920422" cy="453369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2920422" cy="453369"/>
            </a:xfrm>
            <a:custGeom>
              <a:avLst/>
              <a:gdLst/>
              <a:ahLst/>
              <a:cxnLst/>
              <a:rect l="l" t="t" r="r" b="b"/>
              <a:pathLst>
                <a:path w="2920422" h="453369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CODE NINJAS</a:t>
              </a:r>
              <a:endParaRPr dirty="0"/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5737776" y="5454569"/>
            <a:ext cx="11088478" cy="1721385"/>
            <a:chOff x="0" y="0"/>
            <a:chExt cx="2920422" cy="453369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2920422" cy="453369"/>
            </a:xfrm>
            <a:custGeom>
              <a:avLst/>
              <a:gdLst/>
              <a:ahLst/>
              <a:cxnLst/>
              <a:rect l="l" t="t" r="r" b="b"/>
              <a:pathLst>
                <a:path w="2920422" h="453369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 dirty="0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Our Team Lead is Nayana Iliger</a:t>
              </a:r>
              <a:endParaRPr dirty="0"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737776" y="7158987"/>
            <a:ext cx="11088478" cy="2780434"/>
            <a:chOff x="0" y="-57150"/>
            <a:chExt cx="2920422" cy="732296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2920422" cy="675146"/>
            </a:xfrm>
            <a:custGeom>
              <a:avLst/>
              <a:gdLst/>
              <a:ahLst/>
              <a:cxnLst/>
              <a:rect l="l" t="t" r="r" b="b"/>
              <a:pathLst>
                <a:path w="2920422" h="675146" extrusionOk="0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639538"/>
                  </a:lnTo>
                  <a:cubicBezTo>
                    <a:pt x="2920422" y="659203"/>
                    <a:pt x="2904480" y="675146"/>
                    <a:pt x="2884814" y="675146"/>
                  </a:cubicBezTo>
                  <a:lnTo>
                    <a:pt x="35608" y="675146"/>
                  </a:lnTo>
                  <a:cubicBezTo>
                    <a:pt x="15942" y="675146"/>
                    <a:pt x="0" y="659203"/>
                    <a:pt x="0" y="639538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0" y="-57150"/>
              <a:ext cx="2920422" cy="732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CR </a:t>
              </a:r>
              <a:r>
                <a:rPr lang="en-US" sz="2993" b="1" dirty="0" err="1">
                  <a:solidFill>
                    <a:srgbClr val="284B71"/>
                  </a:solidFill>
                </a:rPr>
                <a:t>Vedhvyasa</a:t>
              </a:r>
              <a:endParaRPr dirty="0"/>
            </a:p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Naveen </a:t>
              </a:r>
              <a:endParaRPr dirty="0"/>
            </a:p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Komal</a:t>
              </a:r>
            </a:p>
            <a:p>
              <a:pPr marL="0" marR="0" lvl="0" indent="0" algn="ctr" rtl="0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Sania Belgaum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8" name="Google Shape;118;p15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4274726" cy="1490133"/>
            </a:xfrm>
            <a:custGeom>
              <a:avLst/>
              <a:gdLst/>
              <a:ahLst/>
              <a:cxnLst/>
              <a:rect l="l" t="t" r="r" b="b"/>
              <a:pathLst>
                <a:path w="4274726" h="1490133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152400"/>
              <a:ext cx="4274726" cy="1337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028700" y="2180804"/>
            <a:ext cx="4492160" cy="135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15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20353" cy="299186"/>
            </a:xfrm>
            <a:custGeom>
              <a:avLst/>
              <a:gdLst/>
              <a:ahLst/>
              <a:cxnLst/>
              <a:rect l="l" t="t" r="r" b="b"/>
              <a:pathLst>
                <a:path w="820353" h="299186" extrusionOk="0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B0F236-A9E1-65D0-4628-057300684612}"/>
              </a:ext>
            </a:extLst>
          </p:cNvPr>
          <p:cNvSpPr txBox="1"/>
          <p:nvPr/>
        </p:nvSpPr>
        <p:spPr>
          <a:xfrm>
            <a:off x="2194560" y="4953412"/>
            <a:ext cx="14919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rgbClr val="002060"/>
                </a:solidFill>
              </a:rPr>
              <a:t>Image based breed recognition for cattle and buffaloes of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0" name="Google Shape;130;p16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16"/>
          <p:cNvGrpSpPr/>
          <p:nvPr/>
        </p:nvGrpSpPr>
        <p:grpSpPr>
          <a:xfrm>
            <a:off x="1113756" y="3530943"/>
            <a:ext cx="11698816" cy="1721385"/>
            <a:chOff x="0" y="0"/>
            <a:chExt cx="3081170" cy="45336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4" name="Google Shape;134;p16"/>
          <p:cNvSpPr txBox="1"/>
          <p:nvPr/>
        </p:nvSpPr>
        <p:spPr>
          <a:xfrm>
            <a:off x="1113756" y="1980779"/>
            <a:ext cx="14622363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Proofs </a:t>
            </a:r>
            <a:r>
              <a:rPr lang="en-US" sz="75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lang="en-US" sz="7597" b="1" i="0" u="none" strike="noStrike" cap="non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16"/>
          <p:cNvGrpSpPr/>
          <p:nvPr/>
        </p:nvGrpSpPr>
        <p:grpSpPr>
          <a:xfrm>
            <a:off x="13138436" y="3530943"/>
            <a:ext cx="3687818" cy="1721385"/>
            <a:chOff x="0" y="0"/>
            <a:chExt cx="971277" cy="453369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44048" y="87659"/>
              <a:ext cx="883180" cy="347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91012"/>
                </a:lnSpc>
              </a:pPr>
              <a:br>
                <a:rPr lang="en-IN" sz="1800" dirty="0">
                  <a:solidFill>
                    <a:srgbClr val="0000FF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</a:br>
              <a:r>
                <a:rPr lang="en-IN" sz="1800" dirty="0">
                  <a:solidFill>
                    <a:srgbClr val="0000FF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https://www.nddb.coop › services › </a:t>
              </a:r>
              <a:r>
                <a:rPr lang="en-IN" sz="1800" dirty="0" err="1">
                  <a:solidFill>
                    <a:srgbClr val="0000FF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geneticimprovement</a:t>
              </a:r>
              <a:endParaRPr lang="en-IN" sz="1800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lvl="0" algn="ctr">
                <a:lnSpc>
                  <a:spcPct val="91012"/>
                </a:lnSpc>
              </a:pPr>
              <a:endParaRPr sz="18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13138436" y="5454569"/>
            <a:ext cx="3687818" cy="1834642"/>
            <a:chOff x="0" y="0"/>
            <a:chExt cx="971277" cy="483198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4048" y="10815"/>
              <a:ext cx="848847" cy="472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91012"/>
                </a:lnSpc>
              </a:pPr>
              <a:r>
                <a:rPr lang="fr-FR" sz="1800" dirty="0">
                  <a:hlinkClick r:id="rId6"/>
                </a:rPr>
                <a:t>https://dahd.gov.in › </a:t>
              </a:r>
              <a:r>
                <a:rPr lang="fr-FR" sz="1800" dirty="0" err="1">
                  <a:hlinkClick r:id="rId6"/>
                </a:rPr>
                <a:t>schemes</a:t>
              </a:r>
              <a:r>
                <a:rPr lang="fr-FR" sz="1800" dirty="0">
                  <a:hlinkClick r:id="rId6"/>
                </a:rPr>
                <a:t> › programmes › animal-hu...</a:t>
              </a:r>
            </a:p>
            <a:p>
              <a:pPr lvl="0" algn="ctr">
                <a:lnSpc>
                  <a:spcPct val="91012"/>
                </a:lnSpc>
              </a:pPr>
              <a:endParaRPr sz="18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3138436" y="7375978"/>
            <a:ext cx="3709946" cy="1721385"/>
            <a:chOff x="0" y="0"/>
            <a:chExt cx="977105" cy="453369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5828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91012"/>
                </a:lnSpc>
              </a:pPr>
              <a:r>
                <a:rPr lang="en-IN" sz="1800" dirty="0">
                  <a:solidFill>
                    <a:srgbClr val="002060"/>
                  </a:solidFill>
                </a:rPr>
                <a:t>https://www.researchgate.net/publication/354404017_Data-Driven_Decision_Support_</a:t>
              </a:r>
              <a:endParaRPr sz="18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113756" y="5461877"/>
            <a:ext cx="11525798" cy="1721385"/>
            <a:chOff x="0" y="0"/>
            <a:chExt cx="3081170" cy="453369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93028" y="76200"/>
              <a:ext cx="298814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In the </a:t>
              </a:r>
              <a:r>
                <a:rPr lang="en-US" altLang="en-US" sz="2400" b="1" dirty="0">
                  <a:solidFill>
                    <a:srgbClr val="FFC000"/>
                  </a:solidFill>
                  <a:latin typeface="Arial" panose="020B0604020202020204" pitchFamily="34" charset="0"/>
                </a:rPr>
                <a:t>Bharat Pashudhan App (BPA)</a:t>
              </a: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, breed data is entered manually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Studies show </a:t>
              </a:r>
              <a:r>
                <a:rPr lang="en-US" altLang="en-US" sz="2400" b="1" dirty="0">
                  <a:solidFill>
                    <a:srgbClr val="FFC000"/>
                  </a:solidFill>
                  <a:latin typeface="Arial" panose="020B0604020202020204" pitchFamily="34" charset="0"/>
                </a:rPr>
                <a:t>data inconsistency due to human errors</a:t>
              </a: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Lack of proper training leads to incorrect classification </a:t>
              </a:r>
            </a:p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1113756" y="7375978"/>
            <a:ext cx="11698816" cy="1721385"/>
            <a:chOff x="0" y="0"/>
            <a:chExt cx="3081170" cy="453369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91652" y="282743"/>
              <a:ext cx="2989518" cy="1706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b="1" dirty="0">
                  <a:solidFill>
                    <a:srgbClr val="FFC000"/>
                  </a:solidFill>
                  <a:latin typeface="Arial" panose="020B0604020202020204" pitchFamily="34" charset="0"/>
                </a:rPr>
                <a:t>Incorrect breed data affects: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Genetic improvement programs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Milk production planning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US" altLang="en-US" sz="2400" dirty="0">
                  <a:solidFill>
                    <a:srgbClr val="FFC000"/>
                  </a:solidFill>
                  <a:latin typeface="Arial" panose="020B0604020202020204" pitchFamily="34" charset="0"/>
                </a:rPr>
                <a:t>Disease control strategies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altLang="en-US" sz="2400" dirty="0">
                <a:solidFill>
                  <a:srgbClr val="FFC000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altLang="en-US" sz="2400" dirty="0">
                <a:solidFill>
                  <a:srgbClr val="FFC000"/>
                </a:solidFill>
                <a:latin typeface="Arial" panose="020B0604020202020204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endParaRPr lang="en-US" altLang="en-US" sz="2400" dirty="0">
                <a:solidFill>
                  <a:srgbClr val="FFC000"/>
                </a:solidFill>
                <a:latin typeface="Arial" panose="020B0604020202020204" pitchFamily="34" charset="0"/>
              </a:endParaRPr>
            </a:p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C000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9045D80-4E8A-E0C8-D756-715CBF190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387" y="3436651"/>
            <a:ext cx="1089250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Many breeds look visually similar → difficult to identify manually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Field workers often confuse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indigenous vs crossbreeds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India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50+ registered cattle breeds and multiple buffalo breeds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F6331-A792-91AD-0A64-699369D30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60FCB-55B2-466E-B1A5-09B665B1F0D4}"/>
              </a:ext>
            </a:extLst>
          </p:cNvPr>
          <p:cNvSpPr txBox="1"/>
          <p:nvPr/>
        </p:nvSpPr>
        <p:spPr>
          <a:xfrm>
            <a:off x="4537276" y="4620669"/>
            <a:ext cx="9167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55" name="Google Shape;155;p17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4274726" cy="1490133"/>
            </a:xfrm>
            <a:custGeom>
              <a:avLst/>
              <a:gdLst/>
              <a:ahLst/>
              <a:cxnLst/>
              <a:rect l="l" t="t" r="r" b="b"/>
              <a:pathLst>
                <a:path w="4274726" h="1490133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70496" y="406400"/>
              <a:ext cx="4204230" cy="1083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Uses Artificial Intelligence (AI) and image analysis to recognize and classify the breed of cattle and buffaloes based on images.</a:t>
              </a: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rgbClr val="002060"/>
                </a:solidFill>
              </a:endParaRP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 Can handle diverse environmental backgrounds, lighting conditions, and varying animal poses.</a:t>
              </a: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rgbClr val="002060"/>
                </a:solidFill>
              </a:endParaRP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 Maintains a breed database (for the most common Indian cattle and buffalo breeds and their crosses).</a:t>
              </a: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rgbClr val="002060"/>
                </a:solidFill>
              </a:endParaRP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 Provides breed suggestions or confirmations at the time of registration in BPA.</a:t>
              </a: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rgbClr val="002060"/>
                </a:solidFill>
              </a:endParaRP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 Can be seamlessly integrated with the BPA platform to support real-time validation or correction of breed entries.</a:t>
              </a: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rgbClr val="002060"/>
                </a:solidFill>
              </a:endParaRPr>
            </a:p>
            <a:p>
              <a:pPr marL="285750" lvl="0" indent="-285750">
                <a:lnSpc>
                  <a:spcPct val="91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2060"/>
                  </a:solidFill>
                </a:rPr>
                <a:t> Includes a user-friendly interface for FLWs with minimal technical training requirements.</a:t>
              </a:r>
              <a:endParaRPr sz="2400" dirty="0">
                <a:solidFill>
                  <a:srgbClr val="002060"/>
                </a:solidFill>
              </a:endParaRPr>
            </a:p>
            <a:p>
              <a:pPr marL="0" marR="0" lvl="0" indent="0" algn="ctr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600" b="1" i="0" u="none" strike="noStrike" cap="none" dirty="0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1028700" y="2180804"/>
            <a:ext cx="3083868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7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820353" cy="299186"/>
            </a:xfrm>
            <a:custGeom>
              <a:avLst/>
              <a:gdLst/>
              <a:ahLst/>
              <a:cxnLst/>
              <a:rect l="l" t="t" r="r" b="b"/>
              <a:pathLst>
                <a:path w="820353" h="299186" extrusionOk="0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Our Solution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68" name="Google Shape;168;p18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18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8"/>
          <p:cNvGrpSpPr/>
          <p:nvPr/>
        </p:nvGrpSpPr>
        <p:grpSpPr>
          <a:xfrm>
            <a:off x="1028700" y="3600450"/>
            <a:ext cx="8013601" cy="6276428"/>
            <a:chOff x="0" y="0"/>
            <a:chExt cx="10684803" cy="8368571"/>
          </a:xfrm>
        </p:grpSpPr>
        <p:grpSp>
          <p:nvGrpSpPr>
            <p:cNvPr id="171" name="Google Shape;171;p18"/>
            <p:cNvGrpSpPr/>
            <p:nvPr/>
          </p:nvGrpSpPr>
          <p:grpSpPr>
            <a:xfrm>
              <a:off x="0" y="0"/>
              <a:ext cx="10684803" cy="8368571"/>
              <a:chOff x="0" y="0"/>
              <a:chExt cx="2110578" cy="1653051"/>
            </a:xfrm>
          </p:grpSpPr>
          <p:sp>
            <p:nvSpPr>
              <p:cNvPr id="172" name="Google Shape;172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26784" y="16177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 dirty="0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ML /AI Engine</a:t>
                </a:r>
                <a:endParaRPr/>
              </a:p>
            </p:txBody>
          </p:sp>
        </p:grpSp>
      </p:grpSp>
      <p:grpSp>
        <p:nvGrpSpPr>
          <p:cNvPr id="177" name="Google Shape;177;p18"/>
          <p:cNvGrpSpPr/>
          <p:nvPr/>
        </p:nvGrpSpPr>
        <p:grpSpPr>
          <a:xfrm>
            <a:off x="9144000" y="3600450"/>
            <a:ext cx="7911906" cy="6168521"/>
            <a:chOff x="0" y="0"/>
            <a:chExt cx="10549209" cy="8224695"/>
          </a:xfrm>
        </p:grpSpPr>
        <p:grpSp>
          <p:nvGrpSpPr>
            <p:cNvPr id="178" name="Google Shape;178;p18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8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000" b="1" i="0" u="none" strike="noStrike" cap="none" dirty="0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dirty="0"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 dirty="0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Backend and API </a:t>
                </a: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D45E486-4DCD-4FCF-6915-7113A96C9D3E}"/>
              </a:ext>
            </a:extLst>
          </p:cNvPr>
          <p:cNvSpPr txBox="1"/>
          <p:nvPr/>
        </p:nvSpPr>
        <p:spPr>
          <a:xfrm>
            <a:off x="1493133" y="5213096"/>
            <a:ext cx="7292051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Model Used:</a:t>
            </a: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Convolutional Neural Network (CNN)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Libraries:</a:t>
            </a: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TensorFlow / </a:t>
            </a:r>
            <a:r>
              <a:rPr lang="en-US" altLang="en-US" sz="2000" dirty="0" err="1">
                <a:solidFill>
                  <a:srgbClr val="002060"/>
                </a:solidFill>
                <a:latin typeface="Arial" panose="020B0604020202020204" pitchFamily="34" charset="0"/>
              </a:rPr>
              <a:t>Keras</a:t>
            </a:r>
            <a:endParaRPr lang="en-US" altLang="en-US" sz="20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Preprocessing:</a:t>
            </a: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Resize, Normalize, Augmentation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Training:</a:t>
            </a: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</a:rPr>
              <a:t> Labeled dataset of Indian breeds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IN" sz="2800" b="0" i="0" dirty="0">
              <a:solidFill>
                <a:srgbClr val="002060"/>
              </a:solidFill>
              <a:effectLst/>
              <a:latin typeface="quote-cjk-patch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86BAF-7315-11D2-014C-174B9E264CB6}"/>
              </a:ext>
            </a:extLst>
          </p:cNvPr>
          <p:cNvSpPr txBox="1"/>
          <p:nvPr/>
        </p:nvSpPr>
        <p:spPr>
          <a:xfrm>
            <a:off x="9537918" y="5025743"/>
            <a:ext cx="93176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Framework:</a:t>
            </a:r>
            <a:r>
              <a:rPr lang="en-IN" sz="2000" dirty="0">
                <a:solidFill>
                  <a:srgbClr val="002060"/>
                </a:solidFill>
              </a:rPr>
              <a:t> Flask / </a:t>
            </a:r>
            <a:r>
              <a:rPr lang="en-IN" sz="2000" dirty="0" err="1">
                <a:solidFill>
                  <a:srgbClr val="002060"/>
                </a:solidFill>
              </a:rPr>
              <a:t>FastAPI</a:t>
            </a:r>
            <a:r>
              <a:rPr lang="en-IN" sz="2000" dirty="0">
                <a:solidFill>
                  <a:srgbClr val="002060"/>
                </a:solidFill>
              </a:rPr>
              <a:t> (for building API)</a:t>
            </a:r>
            <a:br>
              <a:rPr lang="en-IN" sz="2000" dirty="0">
                <a:solidFill>
                  <a:srgbClr val="002060"/>
                </a:solidFill>
              </a:rPr>
            </a:b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Model Integration:</a:t>
            </a:r>
            <a:r>
              <a:rPr lang="en-IN" sz="2000" dirty="0">
                <a:solidFill>
                  <a:srgbClr val="002060"/>
                </a:solidFill>
              </a:rPr>
              <a:t> Load trained CNN/Deep Learning model</a:t>
            </a:r>
            <a:br>
              <a:rPr lang="en-IN" sz="2000" dirty="0">
                <a:solidFill>
                  <a:srgbClr val="002060"/>
                </a:solidFill>
              </a:rPr>
            </a:b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API Function:</a:t>
            </a:r>
            <a:endParaRPr lang="en-IN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Receive image from user (FLW)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Send image to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Return predicted breed </a:t>
            </a:r>
          </a:p>
          <a:p>
            <a:pPr>
              <a:buNone/>
            </a:pP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Database:</a:t>
            </a:r>
            <a:endParaRPr lang="en-IN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Store animal data (breed, image, location)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Tools: MySQL / MongoDB </a:t>
            </a:r>
          </a:p>
          <a:p>
            <a:pPr>
              <a:buNone/>
            </a:pP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Deployment:</a:t>
            </a:r>
            <a:endParaRPr lang="en-IN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Cloud: AWS / Google Cloud / Azure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Model hosting for real-time prediction </a:t>
            </a:r>
          </a:p>
          <a:p>
            <a:pPr>
              <a:buNone/>
            </a:pPr>
            <a:r>
              <a:rPr lang="en-IN" sz="2000" dirty="0">
                <a:solidFill>
                  <a:srgbClr val="002060"/>
                </a:solidFill>
              </a:rPr>
              <a:t>• </a:t>
            </a:r>
            <a:r>
              <a:rPr lang="en-IN" sz="2000" b="1" dirty="0">
                <a:solidFill>
                  <a:srgbClr val="002060"/>
                </a:solidFill>
              </a:rPr>
              <a:t>Integration with BPA:</a:t>
            </a:r>
            <a:endParaRPr lang="en-IN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API connects with BPA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Provides breed suggestion during entry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0" name="Google Shape;190;p19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 </a:t>
            </a:r>
            <a:r>
              <a:rPr lang="en-US" sz="7597" b="1" i="0" u="none" strike="noStrike" cap="none" dirty="0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 dirty="0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9"/>
          <p:cNvGrpSpPr/>
          <p:nvPr/>
        </p:nvGrpSpPr>
        <p:grpSpPr>
          <a:xfrm>
            <a:off x="1028700" y="3600450"/>
            <a:ext cx="7911906" cy="6168521"/>
            <a:chOff x="0" y="0"/>
            <a:chExt cx="10549209" cy="8224695"/>
          </a:xfrm>
        </p:grpSpPr>
        <p:grpSp>
          <p:nvGrpSpPr>
            <p:cNvPr id="192" name="Google Shape;192;p19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93" name="Google Shape;193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9"/>
              <p:cNvSpPr txBox="1"/>
              <p:nvPr/>
            </p:nvSpPr>
            <p:spPr>
              <a:xfrm>
                <a:off x="22914" y="178168"/>
                <a:ext cx="2037966" cy="127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Our Frontend is: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     HTML, CSS, JavaScript (or React – if you want advanced)</a:t>
                </a: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2060"/>
                    </a:solidFill>
                  </a:rPr>
                  <a:t>     Because it can: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Provide simple and user-friendly interface for FLWs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Allow easy image upload from mobile or system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Display predicted breed instantly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Work smoothly even for non-technical users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Can be integrated with BPA system.</a:t>
                </a:r>
              </a:p>
              <a:p>
                <a:pPr marL="342900" marR="0" lvl="0" indent="-34290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sz="2000" dirty="0">
                  <a:solidFill>
                    <a:srgbClr val="002060"/>
                  </a:solidFill>
                </a:endParaRPr>
              </a:p>
              <a:p>
                <a:pPr marL="342900" marR="0" lvl="0" indent="-34290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sz="2000" b="1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96" name="Google Shape;196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Frontend and Dashboard</a:t>
                </a:r>
                <a:endParaRPr/>
              </a:p>
            </p:txBody>
          </p:sp>
        </p:grpSp>
      </p:grpSp>
      <p:grpSp>
        <p:nvGrpSpPr>
          <p:cNvPr id="198" name="Google Shape;198;p19"/>
          <p:cNvGrpSpPr/>
          <p:nvPr/>
        </p:nvGrpSpPr>
        <p:grpSpPr>
          <a:xfrm>
            <a:off x="9144000" y="3600450"/>
            <a:ext cx="8115301" cy="6168521"/>
            <a:chOff x="0" y="0"/>
            <a:chExt cx="10820402" cy="8224695"/>
          </a:xfrm>
        </p:grpSpPr>
        <p:grpSp>
          <p:nvGrpSpPr>
            <p:cNvPr id="199" name="Google Shape;199;p19"/>
            <p:cNvGrpSpPr/>
            <p:nvPr/>
          </p:nvGrpSpPr>
          <p:grpSpPr>
            <a:xfrm>
              <a:off x="0" y="0"/>
              <a:ext cx="10820402" cy="8224695"/>
              <a:chOff x="0" y="0"/>
              <a:chExt cx="2137363" cy="1624631"/>
            </a:xfrm>
          </p:grpSpPr>
          <p:sp>
            <p:nvSpPr>
              <p:cNvPr id="200" name="Google Shape;200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avLst/>
                <a:gdLst/>
                <a:ahLst/>
                <a:cxnLst/>
                <a:rect l="l" t="t" r="r" b="b"/>
                <a:pathLst>
                  <a:path w="2083794" h="1624631" extrusionOk="0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9"/>
              <p:cNvSpPr txBox="1"/>
              <p:nvPr/>
            </p:nvSpPr>
            <p:spPr>
              <a:xfrm>
                <a:off x="53569" y="432692"/>
                <a:ext cx="2083794" cy="11065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b" anchorCtr="0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Our Infrastructure is: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    Cloud / Local Server (AWS / Google Cloud / Localhost)</a:t>
                </a: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2060"/>
                    </a:solidFill>
                  </a:rPr>
                  <a:t>     Because it can: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Handle image processing efficiently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Store model and data securely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Provide fast API response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Support real-time predictions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Scale for large number of users</a:t>
                </a:r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marR="0" lvl="0" indent="0" algn="l" rtl="0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000" b="1" i="0" u="none" strike="noStrike" cap="none" dirty="0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203" name="Google Shape;203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avLst/>
                <a:gdLst/>
                <a:ahLst/>
                <a:cxnLst/>
                <a:rect l="l" t="t" r="r" b="b"/>
                <a:pathLst>
                  <a:path w="970317" h="299186" extrusionOk="0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93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Infrastructure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210" name="Google Shape;210;p20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1" name="Google Shape;211;p20"/>
          <p:cNvGrpSpPr/>
          <p:nvPr/>
        </p:nvGrpSpPr>
        <p:grpSpPr>
          <a:xfrm>
            <a:off x="418164" y="3792822"/>
            <a:ext cx="5658277" cy="6168521"/>
            <a:chOff x="0" y="0"/>
            <a:chExt cx="1490246" cy="1624631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18170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610160" y="3598446"/>
            <a:ext cx="2602648" cy="1135971"/>
            <a:chOff x="0" y="0"/>
            <a:chExt cx="685471" cy="299186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Stakeholder Perspective 1</a:t>
              </a:r>
              <a:endParaRPr/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6343134" y="3598446"/>
            <a:ext cx="5589288" cy="6168521"/>
            <a:chOff x="0" y="0"/>
            <a:chExt cx="1472076" cy="1624631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0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6343134" y="3598446"/>
            <a:ext cx="2602648" cy="1135971"/>
            <a:chOff x="0" y="0"/>
            <a:chExt cx="685471" cy="299186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Stakeholder Perspective 2</a:t>
              </a:r>
              <a:endParaRPr/>
            </a:p>
          </p:txBody>
        </p:sp>
      </p:grpSp>
      <p:grpSp>
        <p:nvGrpSpPr>
          <p:cNvPr id="223" name="Google Shape;223;p20"/>
          <p:cNvGrpSpPr/>
          <p:nvPr/>
        </p:nvGrpSpPr>
        <p:grpSpPr>
          <a:xfrm>
            <a:off x="12076108" y="3598446"/>
            <a:ext cx="5601730" cy="6168521"/>
            <a:chOff x="0" y="0"/>
            <a:chExt cx="1475353" cy="1624631"/>
          </a:xfrm>
        </p:grpSpPr>
        <p:sp>
          <p:nvSpPr>
            <p:cNvPr id="224" name="Google Shape;224;p20"/>
            <p:cNvSpPr/>
            <p:nvPr/>
          </p:nvSpPr>
          <p:spPr>
            <a:xfrm>
              <a:off x="0" y="0"/>
              <a:ext cx="1472076" cy="1624631"/>
            </a:xfrm>
            <a:custGeom>
              <a:avLst/>
              <a:gdLst/>
              <a:ahLst/>
              <a:cxnLst/>
              <a:rect l="l" t="t" r="r" b="b"/>
              <a:pathLst>
                <a:path w="1472076" h="1624631" extrusionOk="0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3277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12076108" y="3598446"/>
            <a:ext cx="2602648" cy="1135971"/>
            <a:chOff x="0" y="0"/>
            <a:chExt cx="685471" cy="299186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685471" cy="299186"/>
            </a:xfrm>
            <a:custGeom>
              <a:avLst/>
              <a:gdLst/>
              <a:ahLst/>
              <a:cxnLst/>
              <a:rect l="l" t="t" r="r" b="b"/>
              <a:pathLst>
                <a:path w="685471" h="299186" extrusionOk="0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3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Stakeholder Perspective 3</a:t>
              </a:r>
              <a:endParaRPr/>
            </a:p>
          </p:txBody>
        </p:sp>
      </p:grpSp>
      <p:sp>
        <p:nvSpPr>
          <p:cNvPr id="229" name="Google Shape;229;p20"/>
          <p:cNvSpPr txBox="1"/>
          <p:nvPr/>
        </p:nvSpPr>
        <p:spPr>
          <a:xfrm>
            <a:off x="1028700" y="1902270"/>
            <a:ext cx="7155954" cy="134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Flow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97" b="1" i="0" u="none" strike="noStrike" cap="non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9B35B-7996-2561-8854-4D1F87CF0F76}"/>
              </a:ext>
            </a:extLst>
          </p:cNvPr>
          <p:cNvSpPr txBox="1"/>
          <p:nvPr/>
        </p:nvSpPr>
        <p:spPr>
          <a:xfrm>
            <a:off x="1209664" y="4928793"/>
            <a:ext cx="40062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FLW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Capture Animal Image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Upload Image in App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View Predicted Breed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Confirm / Edit Entry</a:t>
            </a: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Title: </a:t>
            </a:r>
            <a:r>
              <a:rPr lang="en-IN" sz="2000" b="1" dirty="0">
                <a:solidFill>
                  <a:srgbClr val="002060"/>
                </a:solidFill>
              </a:rPr>
              <a:t>User Interaction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0E3F3-8444-4070-948A-127095734846}"/>
              </a:ext>
            </a:extLst>
          </p:cNvPr>
          <p:cNvSpPr txBox="1"/>
          <p:nvPr/>
        </p:nvSpPr>
        <p:spPr>
          <a:xfrm>
            <a:off x="5116570" y="5082681"/>
            <a:ext cx="84142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Input Image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Image Preprocessing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Feature Extraction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Breed Classification Model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↓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>
                <a:solidFill>
                  <a:srgbClr val="002060"/>
                </a:solidFill>
              </a:rPr>
              <a:t>Predicted Breed Output</a:t>
            </a: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Title </a:t>
            </a:r>
            <a:r>
              <a:rPr lang="en-IN" sz="2000" b="1" dirty="0">
                <a:solidFill>
                  <a:srgbClr val="002060"/>
                </a:solidFill>
              </a:rPr>
              <a:t>: AI Processing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D68E9-822E-9DDC-9003-3727AFB75F9B}"/>
              </a:ext>
            </a:extLst>
          </p:cNvPr>
          <p:cNvSpPr txBox="1"/>
          <p:nvPr/>
        </p:nvSpPr>
        <p:spPr>
          <a:xfrm>
            <a:off x="13040127" y="5023739"/>
            <a:ext cx="40452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Frontend / Mobile App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↓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Backend API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↓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ML Model Server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↓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Breed Database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↓</a:t>
            </a:r>
            <a:br>
              <a:rPr lang="en-IN" sz="2000" b="1" dirty="0">
                <a:solidFill>
                  <a:srgbClr val="002060"/>
                </a:solidFill>
              </a:rPr>
            </a:br>
            <a:r>
              <a:rPr lang="en-IN" sz="2000" b="1" dirty="0">
                <a:solidFill>
                  <a:srgbClr val="002060"/>
                </a:solidFill>
              </a:rPr>
              <a:t>BPA Registration System</a:t>
            </a:r>
          </a:p>
          <a:p>
            <a:pPr algn="ctr"/>
            <a:endParaRPr lang="en-IN" sz="2000" b="1" dirty="0">
              <a:solidFill>
                <a:srgbClr val="002060"/>
              </a:solidFill>
            </a:endParaRPr>
          </a:p>
          <a:p>
            <a:pPr algn="ctr"/>
            <a:endParaRPr lang="en-IN" sz="2000" b="1" dirty="0">
              <a:solidFill>
                <a:srgbClr val="002060"/>
              </a:solidFill>
            </a:endParaRPr>
          </a:p>
          <a:p>
            <a:pPr algn="ctr"/>
            <a:r>
              <a:rPr lang="en-IN" sz="2000" dirty="0"/>
              <a:t>Title: </a:t>
            </a:r>
            <a:r>
              <a:rPr lang="en-IN" sz="2000" b="1" dirty="0">
                <a:solidFill>
                  <a:srgbClr val="002060"/>
                </a:solidFill>
              </a:rPr>
              <a:t>System Integration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235" name="Google Shape;235;p21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6" name="Google Shape;236;p21"/>
          <p:cNvGrpSpPr/>
          <p:nvPr/>
        </p:nvGrpSpPr>
        <p:grpSpPr>
          <a:xfrm>
            <a:off x="1113756" y="3820265"/>
            <a:ext cx="11698816" cy="2292755"/>
            <a:chOff x="0" y="0"/>
            <a:chExt cx="3081170" cy="453369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/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1113756" y="1980779"/>
            <a:ext cx="9486007" cy="11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Outcome </a:t>
            </a:r>
            <a:r>
              <a:rPr lang="en-US" sz="7597" b="1" i="0" u="none" strike="noStrike" cap="non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13277331" y="4105949"/>
            <a:ext cx="3687818" cy="1721385"/>
          </a:xfrm>
          <a:custGeom>
            <a:avLst/>
            <a:gdLst/>
            <a:ahLst/>
            <a:cxnLst/>
            <a:rect l="l" t="t" r="r" b="b"/>
            <a:pathLst>
              <a:path w="971277" h="453369" extrusionOk="0">
                <a:moveTo>
                  <a:pt x="46185" y="0"/>
                </a:moveTo>
                <a:lnTo>
                  <a:pt x="925092" y="0"/>
                </a:lnTo>
                <a:cubicBezTo>
                  <a:pt x="950599" y="0"/>
                  <a:pt x="971277" y="20678"/>
                  <a:pt x="971277" y="46185"/>
                </a:cubicBezTo>
                <a:lnTo>
                  <a:pt x="971277" y="407184"/>
                </a:lnTo>
                <a:cubicBezTo>
                  <a:pt x="971277" y="419433"/>
                  <a:pt x="966411" y="431180"/>
                  <a:pt x="957750" y="439842"/>
                </a:cubicBezTo>
                <a:cubicBezTo>
                  <a:pt x="949089" y="448503"/>
                  <a:pt x="937341" y="453369"/>
                  <a:pt x="925092" y="453369"/>
                </a:cubicBezTo>
                <a:lnTo>
                  <a:pt x="46185" y="453369"/>
                </a:lnTo>
                <a:cubicBezTo>
                  <a:pt x="20678" y="453369"/>
                  <a:pt x="0" y="432691"/>
                  <a:pt x="0" y="407184"/>
                </a:cubicBezTo>
                <a:lnTo>
                  <a:pt x="0" y="46185"/>
                </a:lnTo>
                <a:cubicBezTo>
                  <a:pt x="0" y="20678"/>
                  <a:pt x="20678" y="0"/>
                  <a:pt x="46185" y="0"/>
                </a:cubicBezTo>
                <a:close/>
              </a:path>
            </a:pathLst>
          </a:custGeom>
          <a:solidFill>
            <a:srgbClr val="FEA9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002060"/>
                </a:solidFill>
              </a:rPr>
              <a:t>95%</a:t>
            </a:r>
            <a:endParaRPr sz="2800" b="1" dirty="0">
              <a:solidFill>
                <a:srgbClr val="002060"/>
              </a:solidFill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13530804" y="7250488"/>
            <a:ext cx="3434345" cy="1539083"/>
            <a:chOff x="0" y="59255"/>
            <a:chExt cx="971277" cy="453369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59255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dirty="0">
                  <a:solidFill>
                    <a:srgbClr val="284B71"/>
                  </a:solidFill>
                </a:rPr>
                <a:t>15</a:t>
              </a:r>
              <a:r>
                <a:rPr lang="en-US" sz="2993" b="1" i="0" u="none" strike="noStrike" cap="none" dirty="0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 Seconds</a:t>
              </a:r>
              <a:endParaRPr dirty="0"/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1113756" y="6481824"/>
            <a:ext cx="11792016" cy="2708476"/>
            <a:chOff x="0" y="0"/>
            <a:chExt cx="3081170" cy="453369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3081170" cy="453369"/>
            </a:xfrm>
            <a:custGeom>
              <a:avLst/>
              <a:gdLst/>
              <a:ahLst/>
              <a:cxnLst/>
              <a:rect l="l" t="t" r="r" b="b"/>
              <a:pathLst>
                <a:path w="3081170" h="453369" extrusionOk="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Sends alert in 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3333317" y="701930"/>
            <a:ext cx="2743124" cy="653540"/>
          </a:xfrm>
          <a:custGeom>
            <a:avLst/>
            <a:gdLst/>
            <a:ahLst/>
            <a:cxnLst/>
            <a:rect l="l" t="t" r="r" b="b"/>
            <a:pathLst>
              <a:path w="2743124" h="653540" extrusionOk="0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381"/>
            </a:stretch>
          </a:blipFill>
          <a:ln>
            <a:noFill/>
          </a:ln>
        </p:spPr>
      </p:sp>
      <p:sp>
        <p:nvSpPr>
          <p:cNvPr id="285" name="Google Shape;285;p23"/>
          <p:cNvSpPr/>
          <p:nvPr/>
        </p:nvSpPr>
        <p:spPr>
          <a:xfrm>
            <a:off x="1028700" y="566709"/>
            <a:ext cx="2045960" cy="923982"/>
          </a:xfrm>
          <a:custGeom>
            <a:avLst/>
            <a:gdLst/>
            <a:ahLst/>
            <a:cxnLst/>
            <a:rect l="l" t="t" r="r" b="b"/>
            <a:pathLst>
              <a:path w="2045960" h="923982" extrusionOk="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86" name="Google Shape;286;p23"/>
          <p:cNvGrpSpPr/>
          <p:nvPr/>
        </p:nvGrpSpPr>
        <p:grpSpPr>
          <a:xfrm>
            <a:off x="1113756" y="3530943"/>
            <a:ext cx="6453404" cy="1721385"/>
            <a:chOff x="0" y="0"/>
            <a:chExt cx="1699662" cy="453369"/>
          </a:xfrm>
        </p:grpSpPr>
        <p:sp>
          <p:nvSpPr>
            <p:cNvPr id="287" name="Google Shape;287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sp>
        <p:nvSpPr>
          <p:cNvPr id="289" name="Google Shape;289;p23"/>
          <p:cNvSpPr txBox="1"/>
          <p:nvPr/>
        </p:nvSpPr>
        <p:spPr>
          <a:xfrm>
            <a:off x="1113756" y="1980779"/>
            <a:ext cx="3817888" cy="119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9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r>
              <a:rPr lang="en-US" sz="7597" b="1" i="0" u="none" strike="noStrike" cap="none">
                <a:solidFill>
                  <a:srgbClr val="ED32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90" name="Google Shape;290;p23"/>
          <p:cNvGrpSpPr/>
          <p:nvPr/>
        </p:nvGrpSpPr>
        <p:grpSpPr>
          <a:xfrm>
            <a:off x="7752018" y="3521418"/>
            <a:ext cx="3687818" cy="1721385"/>
            <a:chOff x="0" y="0"/>
            <a:chExt cx="971277" cy="453369"/>
          </a:xfrm>
        </p:grpSpPr>
        <p:sp>
          <p:nvSpPr>
            <p:cNvPr id="291" name="Google Shape;291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8 Hours</a:t>
              </a: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>
            <a:off x="11620811" y="3504584"/>
            <a:ext cx="1191761" cy="1721385"/>
            <a:chOff x="0" y="0"/>
            <a:chExt cx="313880" cy="453369"/>
          </a:xfrm>
        </p:grpSpPr>
        <p:sp>
          <p:nvSpPr>
            <p:cNvPr id="294" name="Google Shape;294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12993547" y="3530943"/>
            <a:ext cx="3687818" cy="1721385"/>
            <a:chOff x="0" y="0"/>
            <a:chExt cx="971277" cy="453369"/>
          </a:xfrm>
        </p:grpSpPr>
        <p:sp>
          <p:nvSpPr>
            <p:cNvPr id="297" name="Google Shape;297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10 Minutes</a:t>
              </a:r>
              <a:endParaRPr/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1113756" y="5612061"/>
            <a:ext cx="6453404" cy="1721385"/>
            <a:chOff x="0" y="0"/>
            <a:chExt cx="1699662" cy="453369"/>
          </a:xfrm>
        </p:grpSpPr>
        <p:sp>
          <p:nvSpPr>
            <p:cNvPr id="300" name="Google Shape;300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7752018" y="5602536"/>
            <a:ext cx="3687818" cy="1721385"/>
            <a:chOff x="0" y="0"/>
            <a:chExt cx="971277" cy="453369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8 Hours</a:t>
              </a:r>
              <a:endParaRPr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11620811" y="5585702"/>
            <a:ext cx="1191761" cy="1721385"/>
            <a:chOff x="0" y="0"/>
            <a:chExt cx="313880" cy="453369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12993547" y="5612061"/>
            <a:ext cx="3687818" cy="1721385"/>
            <a:chOff x="0" y="0"/>
            <a:chExt cx="971277" cy="453369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10 Minutes</a:t>
              </a:r>
              <a:endParaRPr/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1113756" y="7693180"/>
            <a:ext cx="6453404" cy="1721385"/>
            <a:chOff x="0" y="0"/>
            <a:chExt cx="1699662" cy="453369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1699662" cy="453369"/>
            </a:xfrm>
            <a:custGeom>
              <a:avLst/>
              <a:gdLst/>
              <a:ahLst/>
              <a:cxnLst/>
              <a:rect l="l" t="t" r="r" b="b"/>
              <a:pathLst>
                <a:path w="1699662" h="453369" extrusionOk="0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7752018" y="7683655"/>
            <a:ext cx="3687818" cy="1721385"/>
            <a:chOff x="0" y="0"/>
            <a:chExt cx="971277" cy="453369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8 Hours</a:t>
              </a:r>
              <a:endParaRPr/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11620811" y="7666821"/>
            <a:ext cx="1191761" cy="1721385"/>
            <a:chOff x="0" y="0"/>
            <a:chExt cx="313880" cy="453369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313880" cy="453369"/>
            </a:xfrm>
            <a:custGeom>
              <a:avLst/>
              <a:gdLst/>
              <a:ahLst/>
              <a:cxnLst/>
              <a:rect l="l" t="t" r="r" b="b"/>
              <a:pathLst>
                <a:path w="313880" h="453369" extrusionOk="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20" name="Google Shape;320;p23"/>
          <p:cNvGrpSpPr/>
          <p:nvPr/>
        </p:nvGrpSpPr>
        <p:grpSpPr>
          <a:xfrm>
            <a:off x="12993547" y="7693180"/>
            <a:ext cx="3687818" cy="1721385"/>
            <a:chOff x="0" y="0"/>
            <a:chExt cx="971277" cy="453369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971277" cy="453369"/>
            </a:xfrm>
            <a:custGeom>
              <a:avLst/>
              <a:gdLst/>
              <a:ahLst/>
              <a:cxnLst/>
              <a:rect l="l" t="t" r="r" b="b"/>
              <a:pathLst>
                <a:path w="971277" h="453369" extrusionOk="0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3" b="1" i="0" u="none" strike="noStrike" cap="non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10 Minutes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673</Words>
  <Application>Microsoft Office PowerPoint</Application>
  <PresentationFormat>Custom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91962</dc:creator>
  <cp:lastModifiedBy>Nayana Iliger</cp:lastModifiedBy>
  <cp:revision>2</cp:revision>
  <dcterms:modified xsi:type="dcterms:W3CDTF">2026-04-14T10:49:11Z</dcterms:modified>
</cp:coreProperties>
</file>